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acbb654e042dd" /><Relationship Type="http://schemas.openxmlformats.org/officeDocument/2006/relationships/extended-properties" Target="/docProps/app.xml" Id="R9fb04a33edae466b" /><Relationship Type="http://schemas.openxmlformats.org/officeDocument/2006/relationships/officeDocument" Target="/ppt/presentation.xml" Id="Ree0bddf2c90249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ca19ce02d34eaa"/>
  </p:sldMasterIdLst>
  <p:notesMasterIdLst>
    <p:notesMasterId xmlns:r="http://schemas.openxmlformats.org/officeDocument/2006/relationships" r:id="Re712fd3312a447aa"/>
  </p:notesMasterIdLst>
  <p:sldIdLst>
    <p:sldId xmlns:r="http://schemas.openxmlformats.org/officeDocument/2006/relationships" id="256" r:id="Rb924f198819a4615"/>
    <p:sldId xmlns:r="http://schemas.openxmlformats.org/officeDocument/2006/relationships" id="257" r:id="R0ee410e376154228"/>
    <p:sldId xmlns:r="http://schemas.openxmlformats.org/officeDocument/2006/relationships" id="258" r:id="R328f14b8e9cd4743"/>
    <p:sldId xmlns:r="http://schemas.openxmlformats.org/officeDocument/2006/relationships" id="259" r:id="R47cc138428dd4dcb"/>
    <p:sldId xmlns:r="http://schemas.openxmlformats.org/officeDocument/2006/relationships" id="260" r:id="Rb56b9a363fbc42c7"/>
    <p:sldId xmlns:r="http://schemas.openxmlformats.org/officeDocument/2006/relationships" id="261" r:id="Rbcec209e54e34244"/>
    <p:sldId xmlns:r="http://schemas.openxmlformats.org/officeDocument/2006/relationships" id="262" r:id="R603a4b5687fc4cf6"/>
    <p:sldId xmlns:r="http://schemas.openxmlformats.org/officeDocument/2006/relationships" id="263" r:id="R5135a94a57dd40a8"/>
    <p:sldId xmlns:r="http://schemas.openxmlformats.org/officeDocument/2006/relationships" id="264" r:id="R35ed9e1176a84cea"/>
    <p:sldId xmlns:r="http://schemas.openxmlformats.org/officeDocument/2006/relationships" id="265" r:id="R9022f3a3285c46bb"/>
    <p:sldId xmlns:r="http://schemas.openxmlformats.org/officeDocument/2006/relationships" id="266" r:id="R16db39226d164c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926fe51cd430b" /><Relationship Type="http://schemas.openxmlformats.org/officeDocument/2006/relationships/slideMaster" Target="/ppt/slideMasters/slideMaster1.xml" Id="R4fca19ce02d34eaa" /><Relationship Type="http://schemas.openxmlformats.org/officeDocument/2006/relationships/notesMaster" Target="/ppt/notesMasters/notesMaster1.xml" Id="Re712fd3312a447aa" /><Relationship Type="http://schemas.openxmlformats.org/officeDocument/2006/relationships/presProps" Target="/ppt/presProps.xml" Id="R3d7284fd91a74d80" /><Relationship Type="http://schemas.openxmlformats.org/officeDocument/2006/relationships/tableStyles" Target="/ppt/tableStyles.xml" Id="R390039f0b712407b" /><Relationship Type="http://schemas.openxmlformats.org/officeDocument/2006/relationships/slide" Target="/ppt/slides/slide1.xml" Id="Rb924f198819a4615" /><Relationship Type="http://schemas.openxmlformats.org/officeDocument/2006/relationships/slide" Target="/ppt/slides/slide2.xml" Id="R0ee410e376154228" /><Relationship Type="http://schemas.openxmlformats.org/officeDocument/2006/relationships/slide" Target="/ppt/slides/slide3.xml" Id="R328f14b8e9cd4743" /><Relationship Type="http://schemas.openxmlformats.org/officeDocument/2006/relationships/slide" Target="/ppt/slides/slide4.xml" Id="R47cc138428dd4dcb" /><Relationship Type="http://schemas.openxmlformats.org/officeDocument/2006/relationships/slide" Target="/ppt/slides/slide5.xml" Id="Rb56b9a363fbc42c7" /><Relationship Type="http://schemas.openxmlformats.org/officeDocument/2006/relationships/slide" Target="/ppt/slides/slide6.xml" Id="Rbcec209e54e34244" /><Relationship Type="http://schemas.openxmlformats.org/officeDocument/2006/relationships/slide" Target="/ppt/slides/slide7.xml" Id="R603a4b5687fc4cf6" /><Relationship Type="http://schemas.openxmlformats.org/officeDocument/2006/relationships/slide" Target="/ppt/slides/slide8.xml" Id="R5135a94a57dd40a8" /><Relationship Type="http://schemas.openxmlformats.org/officeDocument/2006/relationships/slide" Target="/ppt/slides/slide9.xml" Id="R35ed9e1176a84cea" /><Relationship Type="http://schemas.openxmlformats.org/officeDocument/2006/relationships/slide" Target="/ppt/slides/slide10.xml" Id="R9022f3a3285c46bb" /><Relationship Type="http://schemas.openxmlformats.org/officeDocument/2006/relationships/slide" Target="/ppt/slides/slide11.xml" Id="R16db39226d164c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8de3eb12f943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51a785df14e7f" /><Relationship Type="http://schemas.openxmlformats.org/officeDocument/2006/relationships/notesMaster" Target="/ppt/notesMasters/notesMaster1.xml" Id="R85647d117237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cfac1206cc45d2" /><Relationship Type="http://schemas.openxmlformats.org/officeDocument/2006/relationships/notesMaster" Target="/ppt/notesMasters/notesMaster1.xml" Id="R69027bada3f3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83ec01fd9f4c11" /><Relationship Type="http://schemas.openxmlformats.org/officeDocument/2006/relationships/notesMaster" Target="/ppt/notesMasters/notesMaster1.xml" Id="Rdfea06c32b55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3a535c3a943f5" /><Relationship Type="http://schemas.openxmlformats.org/officeDocument/2006/relationships/notesMaster" Target="/ppt/notesMasters/notesMaster1.xml" Id="R7a96ac45051d43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eec9211a9449b9" /><Relationship Type="http://schemas.openxmlformats.org/officeDocument/2006/relationships/notesMaster" Target="/ppt/notesMasters/notesMaster1.xml" Id="R57c78e753c3f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09ca495da4c67" /><Relationship Type="http://schemas.openxmlformats.org/officeDocument/2006/relationships/notesMaster" Target="/ppt/notesMasters/notesMaster1.xml" Id="Ra251e874af3e4f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fb28ad55df40a8" /><Relationship Type="http://schemas.openxmlformats.org/officeDocument/2006/relationships/notesMaster" Target="/ppt/notesMasters/notesMaster1.xml" Id="Re9f40de244394f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ea04ec8e614bba" /><Relationship Type="http://schemas.openxmlformats.org/officeDocument/2006/relationships/notesMaster" Target="/ppt/notesMasters/notesMaster1.xml" Id="R4d83871eb0d140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cf5859ea7f4be9" /><Relationship Type="http://schemas.openxmlformats.org/officeDocument/2006/relationships/notesMaster" Target="/ppt/notesMasters/notesMaster1.xml" Id="Rf22c34f40cf444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0bfd34386d40ac" /><Relationship Type="http://schemas.openxmlformats.org/officeDocument/2006/relationships/notesMaster" Target="/ppt/notesMasters/notesMaster1.xml" Id="R50346f9244ad41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3e486b48a74fc9" /><Relationship Type="http://schemas.openxmlformats.org/officeDocument/2006/relationships/notesMaster" Target="/ppt/notesMasters/notesMaster1.xml" Id="R4b96a6c3bde6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dd62685294c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9dfb3223c4022" /><Relationship Type="http://schemas.openxmlformats.org/officeDocument/2006/relationships/slideLayout" Target="/ppt/slideLayouts/slideLayout1.xml" Id="R7f1dbb09b602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dbb09b602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9d85e5f8b4801" /><Relationship Type="http://schemas.openxmlformats.org/officeDocument/2006/relationships/notesSlide" Target="/ppt/notesSlides/notesSlide1.xml" Id="Ra865bc0c46ad4b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dc5654e834ed9" /><Relationship Type="http://schemas.openxmlformats.org/officeDocument/2006/relationships/notesSlide" Target="/ppt/notesSlides/notesSlide2.xml" Id="R592ba32ead0d41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0aed14fc946a4" /><Relationship Type="http://schemas.openxmlformats.org/officeDocument/2006/relationships/notesSlide" Target="/ppt/notesSlides/notesSlide3.xml" Id="R620032f260bc43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f187d8fc041a9" /><Relationship Type="http://schemas.openxmlformats.org/officeDocument/2006/relationships/notesSlide" Target="/ppt/notesSlides/notesSlide4.xml" Id="Red42e0221384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21a0901324ae8" /><Relationship Type="http://schemas.openxmlformats.org/officeDocument/2006/relationships/image" Target="/ppt/media/image.png" Id="Rb6dfbd6b88ea428b" /><Relationship Type="http://schemas.openxmlformats.org/officeDocument/2006/relationships/notesSlide" Target="/ppt/notesSlides/notesSlide5.xml" Id="R951f436c2a9040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ac3577bc54fd7" /><Relationship Type="http://schemas.openxmlformats.org/officeDocument/2006/relationships/notesSlide" Target="/ppt/notesSlides/notesSlide6.xml" Id="Re275fd3aea5e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e9c427aad4b8d" /><Relationship Type="http://schemas.openxmlformats.org/officeDocument/2006/relationships/notesSlide" Target="/ppt/notesSlides/notesSlide7.xml" Id="R8e748e74d8ab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ccee839844b9" /><Relationship Type="http://schemas.openxmlformats.org/officeDocument/2006/relationships/notesSlide" Target="/ppt/notesSlides/notesSlide8.xml" Id="Ra410446c162144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984955a9431a" /><Relationship Type="http://schemas.openxmlformats.org/officeDocument/2006/relationships/notesSlide" Target="/ppt/notesSlides/notesSlide9.xml" Id="R3baeb5dc79c847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09b636b84291" /><Relationship Type="http://schemas.openxmlformats.org/officeDocument/2006/relationships/notesSlide" Target="/ppt/notesSlides/notesSlide10.xml" Id="Rc5dbaa386326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f08c37b324ee3" /><Relationship Type="http://schemas.openxmlformats.org/officeDocument/2006/relationships/notesSlide" Target="/ppt/notesSlides/notesSlide11.xml" Id="Rb4ec3d08fbb1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t8a2xhl">
            <a:extLst xmlns:a="http://schemas.openxmlformats.org/drawingml/2006/main">
              <a:ext uri="{FF2B5EF4-FFF2-40B4-BE49-F238E27FC236}">
                <a16:creationId xmlns:a16="http://schemas.microsoft.com/office/drawing/2014/main" id="{0BB4D6C6-44E8-4ADD-8F83-3A5BE9D0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BEE 208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E54A8723-2BE2-443F-9EAC-35569FDF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971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Laboratory Access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 System</a:t>
            </a:r>
          </a:p>
        </p:txBody>
      </p:sp>
      <p:cxnSp>
        <p:nvCxnSpPr>
          <p:cNvPr id="9" name="rule"/>
          <p:cNvCxnSpPr/>
          <p:nvPr/>
        </p:nvCxnSpPr>
        <p:spPr>
          <a:xfrm xmlns:a="http://schemas.openxmlformats.org/drawingml/2006/main">
            <a:off x="457200" y="40957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text-gkka7j4">
            <a:extLst xmlns:a="http://schemas.openxmlformats.org/drawingml/2006/main">
              <a:ext uri="{FF2B5EF4-FFF2-40B4-BE49-F238E27FC236}">
                <a16:creationId xmlns:a16="http://schemas.microsoft.com/office/drawing/2014/main" id="{74898FB9-0411-4C15-86A1-FA88954E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 C++ terminal application for verified, traceable laboratory entry</a:t>
            </a:r>
          </a:p>
        </p:txBody>
      </p:sp>
      <p:sp>
        <p:nvSpPr>
          <p:cNvPr id="5" name="text-w22h06t">
            <a:extLst xmlns:a="http://schemas.openxmlformats.org/drawingml/2006/main">
              <a:ext uri="{FF2B5EF4-FFF2-40B4-BE49-F238E27FC236}">
                <a16:creationId xmlns:a16="http://schemas.microsoft.com/office/drawing/2014/main" id="{4F7A0EDD-F979-4299-B2F2-6C11F50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 1.11</a:t>
            </a:r>
          </a:p>
        </p:txBody>
      </p:sp>
      <p:sp>
        <p:nvSpPr>
          <p:cNvPr id="6" name="text-bmqoftc">
            <a:extLst xmlns:a="http://schemas.openxmlformats.org/drawingml/2006/main">
              <a:ext uri="{FF2B5EF4-FFF2-40B4-BE49-F238E27FC236}">
                <a16:creationId xmlns:a16="http://schemas.microsoft.com/office/drawing/2014/main" id="{D117AA2C-6B79-4CBE-9AEC-C1FCCD1A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2455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Mid-Semester Practical Project Examination</a:t>
            </a:r>
          </a:p>
        </p:txBody>
      </p:sp>
    </p:spTree>
    <p:extLst>
      <p:ext uri="{BB962C8B-B14F-4D97-AF65-F5344CB8AC3E}">
        <p14:creationId xmlns:p14="http://schemas.microsoft.com/office/powerpoint/2010/main" val="538697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E0BA61-EC58-47F1-9099-C5E0908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records leave accountability gaps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C22443-F271-4636-9FD3-0652B26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B244C62-0ADD-46D5-A282-7F00E8F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text-lkuhc1i">
            <a:extLst xmlns:a="http://schemas.openxmlformats.org/drawingml/2006/main">
              <a:ext uri="{FF2B5EF4-FFF2-40B4-BE49-F238E27FC236}">
                <a16:creationId xmlns:a16="http://schemas.microsoft.com/office/drawing/2014/main" id="{9F89B27C-28E0-4EBA-85BD-5974D3B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laboratory may know that access happened—without knowing enough to explain it later.</a:t>
            </a:r>
          </a:p>
        </p:txBody>
      </p:sp>
      <p:sp>
        <p:nvSpPr>
          <p:cNvPr id="6" name="text-vjh80n1">
            <a:extLst xmlns:a="http://schemas.openxmlformats.org/drawingml/2006/main">
              <a:ext uri="{FF2B5EF4-FFF2-40B4-BE49-F238E27FC236}">
                <a16:creationId xmlns:a16="http://schemas.microsoft.com/office/drawing/2014/main" id="{400C6FE1-C209-4D42-A417-985BAC5E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WHO?</a:t>
            </a:r>
          </a:p>
        </p:txBody>
      </p:sp>
      <p:sp>
        <p:nvSpPr>
          <p:cNvPr id="7" name="text-y37wkjf">
            <a:extLst xmlns:a="http://schemas.openxmlformats.org/drawingml/2006/main">
              <a:ext uri="{FF2B5EF4-FFF2-40B4-BE49-F238E27FC236}">
                <a16:creationId xmlns:a16="http://schemas.microsoft.com/office/drawing/2014/main" id="{FB65A61B-7228-4FCA-BD76-CB49F4F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Who requested entry and what ID did they provide?</a:t>
            </a:r>
          </a:p>
        </p:txBody>
      </p:sp>
      <p:sp>
        <p:nvSpPr>
          <p:cNvPr id="8" name="text-ut9xm83">
            <a:extLst xmlns:a="http://schemas.openxmlformats.org/drawingml/2006/main">
              <a:ext uri="{FF2B5EF4-FFF2-40B4-BE49-F238E27FC236}">
                <a16:creationId xmlns:a16="http://schemas.microsoft.com/office/drawing/2014/main" id="{9B348F3B-A64A-4532-B6F1-FEBE195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WHEN?</a:t>
            </a:r>
          </a:p>
        </p:txBody>
      </p:sp>
      <p:sp>
        <p:nvSpPr>
          <p:cNvPr id="9" name="text-rgozs9z">
            <a:extLst xmlns:a="http://schemas.openxmlformats.org/drawingml/2006/main">
              <a:ext uri="{FF2B5EF4-FFF2-40B4-BE49-F238E27FC236}">
                <a16:creationId xmlns:a16="http://schemas.microsoft.com/office/drawing/2014/main" id="{D71B0336-E9AB-4016-87D3-6211F68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252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When was permission granted or refused?</a:t>
            </a:r>
          </a:p>
        </p:txBody>
      </p:sp>
      <p:sp>
        <p:nvSpPr>
          <p:cNvPr id="10" name="text-lzgy0nr">
            <a:extLst xmlns:a="http://schemas.openxmlformats.org/drawingml/2006/main">
              <a:ext uri="{FF2B5EF4-FFF2-40B4-BE49-F238E27FC236}">
                <a16:creationId xmlns:a16="http://schemas.microsoft.com/office/drawing/2014/main" id="{D06E1339-48A9-4E6C-B378-9D328B7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11" name="text-au9o2wo">
            <a:extLst xmlns:a="http://schemas.openxmlformats.org/drawingml/2006/main">
              <a:ext uri="{FF2B5EF4-FFF2-40B4-BE49-F238E27FC236}">
                <a16:creationId xmlns:a16="http://schemas.microsoft.com/office/drawing/2014/main" id="{4DEEFFD3-11B1-404A-9861-A83EE007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Was the person authorised, and how many attempts were used?</a:t>
            </a:r>
          </a:p>
        </p:txBody>
      </p:sp>
      <p:sp>
        <p:nvSpPr>
          <p:cNvPr id="12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70545174-31B5-48BA-B631-261ADDCB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09700"/>
            <a:ext cx="22669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y859hmq">
            <a:extLst xmlns:a="http://schemas.openxmlformats.org/drawingml/2006/main">
              <a:ext uri="{FF2B5EF4-FFF2-40B4-BE49-F238E27FC236}">
                <a16:creationId xmlns:a16="http://schemas.microsoft.com/office/drawing/2014/main" id="{8F2EF855-9805-44D2-A88F-6D54B7B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17335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software produces a clear decision report and a persistent access record.</a:t>
            </a:r>
          </a:p>
        </p:txBody>
      </p:sp>
    </p:spTree>
    <p:extLst>
      <p:ext uri="{BB962C8B-B14F-4D97-AF65-F5344CB8AC3E}">
        <p14:creationId xmlns:p14="http://schemas.microsoft.com/office/powerpoint/2010/main" val="416496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C9D1B-83C5-4B1D-8D7E-12B5F9B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workflow verifies, limits, and records access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9A3241-3311-4539-B44E-865A6AA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C23714C-18EB-4731-BB6B-0827042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text-pl3qppq">
            <a:extLst xmlns:a="http://schemas.openxmlformats.org/drawingml/2006/main">
              <a:ext uri="{FF2B5EF4-FFF2-40B4-BE49-F238E27FC236}">
                <a16:creationId xmlns:a16="http://schemas.microsoft.com/office/drawing/2014/main" id="{ADE3B388-6B93-459C-A837-C767E648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8q6ydcn">
            <a:extLst xmlns:a="http://schemas.openxmlformats.org/drawingml/2006/main">
              <a:ext uri="{FF2B5EF4-FFF2-40B4-BE49-F238E27FC236}">
                <a16:creationId xmlns:a16="http://schemas.microsoft.com/office/drawing/2014/main" id="{43C0D0B6-9DB9-4BED-A814-2D26020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57200" y="30289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text-life7u9">
            <a:extLst xmlns:a="http://schemas.openxmlformats.org/drawingml/2006/main">
              <a:ext uri="{FF2B5EF4-FFF2-40B4-BE49-F238E27FC236}">
                <a16:creationId xmlns:a16="http://schemas.microsoft.com/office/drawing/2014/main" id="{49B4A12B-4050-49F8-B74C-CF70CF1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Collect a non-empty name, ID, role, and access code.</a:t>
            </a:r>
          </a:p>
        </p:txBody>
      </p:sp>
      <p:sp>
        <p:nvSpPr>
          <p:cNvPr id="9" name="text-vhjn137">
            <a:extLst xmlns:a="http://schemas.openxmlformats.org/drawingml/2006/main">
              <a:ext uri="{FF2B5EF4-FFF2-40B4-BE49-F238E27FC236}">
                <a16:creationId xmlns:a16="http://schemas.microsoft.com/office/drawing/2014/main" id="{E681AAC0-EF2B-461D-BF48-7D86D20C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efrcrv8">
            <a:extLst xmlns:a="http://schemas.openxmlformats.org/drawingml/2006/main">
              <a:ext uri="{FF2B5EF4-FFF2-40B4-BE49-F238E27FC236}">
                <a16:creationId xmlns:a16="http://schemas.microsoft.com/office/drawing/2014/main" id="{498D0068-EAB3-458A-8821-224AA75E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81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4257675" y="30289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2" name="text-yhvqjwp">
            <a:extLst xmlns:a="http://schemas.openxmlformats.org/drawingml/2006/main">
              <a:ext uri="{FF2B5EF4-FFF2-40B4-BE49-F238E27FC236}">
                <a16:creationId xmlns:a16="http://schemas.microsoft.com/office/drawing/2014/main" id="{C14E19B1-533F-4AC0-82B6-61B46537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Grant access on the correct code or deny after three failures.</a:t>
            </a:r>
          </a:p>
        </p:txBody>
      </p:sp>
      <p:sp>
        <p:nvSpPr>
          <p:cNvPr id="13" name="text-s7mdu1q">
            <a:extLst xmlns:a="http://schemas.openxmlformats.org/drawingml/2006/main">
              <a:ext uri="{FF2B5EF4-FFF2-40B4-BE49-F238E27FC236}">
                <a16:creationId xmlns:a16="http://schemas.microsoft.com/office/drawing/2014/main" id="{49F0EF99-BCBE-4CCC-883F-7FB483B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-nacr5y6">
            <a:extLst xmlns:a="http://schemas.openxmlformats.org/drawingml/2006/main">
              <a:ext uri="{FF2B5EF4-FFF2-40B4-BE49-F238E27FC236}">
                <a16:creationId xmlns:a16="http://schemas.microsoft.com/office/drawing/2014/main" id="{617FBBF2-39A5-4F73-96BA-C191680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8058150" y="30289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6" name="text-gz4dwss">
            <a:extLst xmlns:a="http://schemas.openxmlformats.org/drawingml/2006/main">
              <a:ext uri="{FF2B5EF4-FFF2-40B4-BE49-F238E27FC236}">
                <a16:creationId xmlns:a16="http://schemas.microsoft.com/office/drawing/2014/main" id="{0BB485DE-69A1-4AFA-8AC4-2A0F76D0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Display the outcome and append successful access to the log.</a:t>
            </a:r>
          </a:p>
        </p:txBody>
      </p:sp>
      <p:sp>
        <p:nvSpPr>
          <p:cNvPr id="17" name="text-9qyk4kz">
            <a:extLst xmlns:a="http://schemas.openxmlformats.org/drawingml/2006/main">
              <a:ext uri="{FF2B5EF4-FFF2-40B4-BE49-F238E27FC236}">
                <a16:creationId xmlns:a16="http://schemas.microsoft.com/office/drawing/2014/main" id="{67140115-4D9F-4D4E-A898-BDA906DB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Visitors who pass verification are explicitly marked: SUPERVISION REQUIRED.</a:t>
            </a:r>
          </a:p>
        </p:txBody>
      </p:sp>
    </p:spTree>
    <p:extLst>
      <p:ext uri="{BB962C8B-B14F-4D97-AF65-F5344CB8AC3E}">
        <p14:creationId xmlns:p14="http://schemas.microsoft.com/office/powerpoint/2010/main" val="750567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9A39B4-011F-4912-A33B-B3ED2441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request follows the same controlled path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FE2B71-F0CE-4F9D-B0AA-8BC9450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9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C8F72E-0D3E-446A-9FF2-EDFE174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1143000" y="300037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30A674EB-A94B-42F6-93EF-67F2F55F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text-2knhrk8">
            <a:extLst xmlns:a="http://schemas.openxmlformats.org/drawingml/2006/main">
              <a:ext uri="{FF2B5EF4-FFF2-40B4-BE49-F238E27FC236}">
                <a16:creationId xmlns:a16="http://schemas.microsoft.com/office/drawing/2014/main" id="{709B398F-90A7-44ED-BA29-B49E2F75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bkje0jv">
            <a:extLst xmlns:a="http://schemas.openxmlformats.org/drawingml/2006/main">
              <a:ext uri="{FF2B5EF4-FFF2-40B4-BE49-F238E27FC236}">
                <a16:creationId xmlns:a16="http://schemas.microsoft.com/office/drawing/2014/main" id="{140D51DF-5176-4EAA-A1E2-E22F8D3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USER DETAILS</a:t>
            </a:r>
          </a:p>
        </p:txBody>
      </p:sp>
      <p:sp>
        <p:nvSpPr>
          <p:cNvPr id="9" name="text-wbj53hm">
            <a:extLst xmlns:a="http://schemas.openxmlformats.org/drawingml/2006/main">
              <a:ext uri="{FF2B5EF4-FFF2-40B4-BE49-F238E27FC236}">
                <a16:creationId xmlns:a16="http://schemas.microsoft.com/office/drawing/2014/main" id="{20436C77-0E49-4174-A3AB-C886747D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719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Enter a valid name and ID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9866E02E-2D48-44E2-AC63-347BAA8B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text-dzn85pt">
            <a:extLst xmlns:a="http://schemas.openxmlformats.org/drawingml/2006/main">
              <a:ext uri="{FF2B5EF4-FFF2-40B4-BE49-F238E27FC236}">
                <a16:creationId xmlns:a16="http://schemas.microsoft.com/office/drawing/2014/main" id="{FA9C1222-F96B-44A3-BB90-B7A38E32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19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e5nzdbn">
            <a:extLst xmlns:a="http://schemas.openxmlformats.org/drawingml/2006/main">
              <a:ext uri="{FF2B5EF4-FFF2-40B4-BE49-F238E27FC236}">
                <a16:creationId xmlns:a16="http://schemas.microsoft.com/office/drawing/2014/main" id="{58018CCC-DA0B-44D3-AEDA-9614CEA5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3" name="text-ni5z6v4">
            <a:extLst xmlns:a="http://schemas.openxmlformats.org/drawingml/2006/main">
              <a:ext uri="{FF2B5EF4-FFF2-40B4-BE49-F238E27FC236}">
                <a16:creationId xmlns:a16="http://schemas.microsoft.com/office/drawing/2014/main" id="{BE4229C6-872E-419C-B04A-C9D767F9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719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Choose Student, Lecturer, Technician or Visitor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BC169FE2-A5C0-49FC-B91C-58BF92E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text-d7rlkcr">
            <a:extLst xmlns:a="http://schemas.openxmlformats.org/drawingml/2006/main">
              <a:ext uri="{FF2B5EF4-FFF2-40B4-BE49-F238E27FC236}">
                <a16:creationId xmlns:a16="http://schemas.microsoft.com/office/drawing/2014/main" id="{BEC1D4C8-857C-4B13-806D-8BF6616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19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-rk8df38">
            <a:extLst xmlns:a="http://schemas.openxmlformats.org/drawingml/2006/main">
              <a:ext uri="{FF2B5EF4-FFF2-40B4-BE49-F238E27FC236}">
                <a16:creationId xmlns:a16="http://schemas.microsoft.com/office/drawing/2014/main" id="{1A2E3251-6B9F-451D-9A77-1654368C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17" name="text-94ea78g">
            <a:extLst xmlns:a="http://schemas.openxmlformats.org/drawingml/2006/main">
              <a:ext uri="{FF2B5EF4-FFF2-40B4-BE49-F238E27FC236}">
                <a16:creationId xmlns:a16="http://schemas.microsoft.com/office/drawing/2014/main" id="{4093BC45-F2A1-449D-97FB-0F4B7EB5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Verify BEE208LAB within three attempts</a:t>
            </a:r>
          </a:p>
        </p:txBody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69503869-20C1-4169-B602-54FDC3B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9" name="text-as9tiew">
            <a:extLst xmlns:a="http://schemas.openxmlformats.org/drawingml/2006/main">
              <a:ext uri="{FF2B5EF4-FFF2-40B4-BE49-F238E27FC236}">
                <a16:creationId xmlns:a16="http://schemas.microsoft.com/office/drawing/2014/main" id="{0E07768B-31B2-4185-9990-26914F83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19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-t0kg85m">
            <a:extLst xmlns:a="http://schemas.openxmlformats.org/drawingml/2006/main">
              <a:ext uri="{FF2B5EF4-FFF2-40B4-BE49-F238E27FC236}">
                <a16:creationId xmlns:a16="http://schemas.microsoft.com/office/drawing/2014/main" id="{DB2D3770-9F9C-46EC-9097-C56C9689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text-q14svq8">
            <a:extLst xmlns:a="http://schemas.openxmlformats.org/drawingml/2006/main">
              <a:ext uri="{FF2B5EF4-FFF2-40B4-BE49-F238E27FC236}">
                <a16:creationId xmlns:a16="http://schemas.microsoft.com/office/drawing/2014/main" id="{DF300FBD-A808-4152-857C-FC2D950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719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Display granted or denied status</a:t>
            </a:r>
          </a:p>
        </p:txBody>
      </p:sp>
      <p:sp>
        <p:nvSpPr>
          <p:cNvPr id="22" name="step-5">
            <a:extLst xmlns:a="http://schemas.openxmlformats.org/drawingml/2006/main">
              <a:ext uri="{FF2B5EF4-FFF2-40B4-BE49-F238E27FC236}">
                <a16:creationId xmlns:a16="http://schemas.microsoft.com/office/drawing/2014/main" id="{DB418F41-AF59-4655-8F7A-6E6445A6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3" name="text-tx510he">
            <a:extLst xmlns:a="http://schemas.openxmlformats.org/drawingml/2006/main">
              <a:ext uri="{FF2B5EF4-FFF2-40B4-BE49-F238E27FC236}">
                <a16:creationId xmlns:a16="http://schemas.microsoft.com/office/drawing/2014/main" id="{D87463F2-7652-4CE2-8482-D4C5920C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19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-q5rdytd">
            <a:extLst xmlns:a="http://schemas.openxmlformats.org/drawingml/2006/main">
              <a:ext uri="{FF2B5EF4-FFF2-40B4-BE49-F238E27FC236}">
                <a16:creationId xmlns:a16="http://schemas.microsoft.com/office/drawing/2014/main" id="{1BF2D9D8-6086-4BC2-8D44-C23073B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25" name="text-8aig0cn">
            <a:extLst xmlns:a="http://schemas.openxmlformats.org/drawingml/2006/main">
              <a:ext uri="{FF2B5EF4-FFF2-40B4-BE49-F238E27FC236}">
                <a16:creationId xmlns:a16="http://schemas.microsoft.com/office/drawing/2014/main" id="{2E539DAF-055D-44FD-9449-949D0658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71950"/>
            <a:ext cx="2019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Save successful access only</a:t>
            </a:r>
          </a:p>
        </p:txBody>
      </p:sp>
      <p:sp>
        <p:nvSpPr>
          <p:cNvPr id="26" name="text-vmmr1nb">
            <a:extLst xmlns:a="http://schemas.openxmlformats.org/drawingml/2006/main">
              <a:ext uri="{FF2B5EF4-FFF2-40B4-BE49-F238E27FC236}">
                <a16:creationId xmlns:a16="http://schemas.microsoft.com/office/drawing/2014/main" id="{658B822A-693B-467A-BAE6-54E4679A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 code → Access Granted     |     Three failed attempts → Access Denied</a:t>
            </a:r>
          </a:p>
        </p:txBody>
      </p:sp>
    </p:spTree>
    <p:extLst>
      <p:ext uri="{BB962C8B-B14F-4D97-AF65-F5344CB8AC3E}">
        <p14:creationId xmlns:p14="http://schemas.microsoft.com/office/powerpoint/2010/main" val="2137421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32D20E-CA53-4663-A3E0-520E5B5F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successful request produces a timestamped report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7A8B89-2888-462B-BB44-E3090CA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12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218AA69-A078-4CC1-9F20-AB6C00BB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fbd6b88ea428b"/>
          <a:stretch xmlns:a="http://schemas.openxmlformats.org/drawingml/2006/main"/>
        </p:blipFill>
        <p:spPr>
          <a:xfrm xmlns:a="http://schemas.openxmlformats.org/drawingml/2006/main">
            <a:off x="457200" y="2078355"/>
            <a:ext cx="7239000" cy="2606040"/>
          </a:xfrm>
          <a:prstGeom xmlns:a="http://schemas.openxmlformats.org/drawingml/2006/main" prst="rect">
            <a:avLst/>
          </a:prstGeom>
        </p:spPr>
      </p:pic>
      <p:sp>
        <p:nvSpPr>
          <p:cNvPr id="6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0A60E96-6F09-42C0-B70E-0DBCF2F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38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m9px19">
            <a:extLst xmlns:a="http://schemas.openxmlformats.org/drawingml/2006/main">
              <a:ext uri="{FF2B5EF4-FFF2-40B4-BE49-F238E27FC236}">
                <a16:creationId xmlns:a16="http://schemas.microsoft.com/office/drawing/2014/main" id="{55525DA0-EF00-48C2-80FC-FC0DC55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INPUT</a:t>
            </a:r>
          </a:p>
        </p:txBody>
      </p:sp>
      <p:sp>
        <p:nvSpPr>
          <p:cNvPr id="8" name="text-8d7yzmp">
            <a:extLst xmlns:a="http://schemas.openxmlformats.org/drawingml/2006/main">
              <a:ext uri="{FF2B5EF4-FFF2-40B4-BE49-F238E27FC236}">
                <a16:creationId xmlns:a16="http://schemas.microsoft.com/office/drawing/2014/main" id="{A19056CB-9C58-45F5-8D66-9AAF4047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952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3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Ama Mensah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BEE208/045/2026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BEE208LAB</a:t>
            </a:r>
          </a:p>
        </p:txBody>
      </p:sp>
      <p:sp>
        <p:nvSpPr>
          <p:cNvPr id="9" name="text-6tdd9lj">
            <a:extLst xmlns:a="http://schemas.openxmlformats.org/drawingml/2006/main">
              <a:ext uri="{FF2B5EF4-FFF2-40B4-BE49-F238E27FC236}">
                <a16:creationId xmlns:a16="http://schemas.microsoft.com/office/drawing/2014/main" id="{6F58057F-FDC3-4B0A-BF72-3BAC7D8A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record is saved only after access is granted.</a:t>
            </a:r>
          </a:p>
        </p:txBody>
      </p:sp>
    </p:spTree>
    <p:extLst>
      <p:ext uri="{BB962C8B-B14F-4D97-AF65-F5344CB8AC3E}">
        <p14:creationId xmlns:p14="http://schemas.microsoft.com/office/powerpoint/2010/main" val="787304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3BE24A-24B7-4380-B456-9A048459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AccessUser class keeps each request self-contained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E9126D-58A7-4831-B010-EC4F0590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F9C95FD-0ECE-4DBC-935C-617AB5A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text-80lgzrc">
            <a:extLst xmlns:a="http://schemas.openxmlformats.org/drawingml/2006/main">
              <a:ext uri="{FF2B5EF4-FFF2-40B4-BE49-F238E27FC236}">
                <a16:creationId xmlns:a16="http://schemas.microsoft.com/office/drawing/2014/main" id="{6787BBEE-7526-4798-B232-65892F33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6" name="text-nkwxwp8">
            <a:extLst xmlns:a="http://schemas.openxmlformats.org/drawingml/2006/main">
              <a:ext uri="{FF2B5EF4-FFF2-40B4-BE49-F238E27FC236}">
                <a16:creationId xmlns:a16="http://schemas.microsoft.com/office/drawing/2014/main" id="{14D59029-D81D-4695-A7C4-90CE9F5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setUserDetails()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validateRole()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57200" y="33909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text-c5b2kxx">
            <a:extLst xmlns:a="http://schemas.openxmlformats.org/drawingml/2006/main">
              <a:ext uri="{FF2B5EF4-FFF2-40B4-BE49-F238E27FC236}">
                <a16:creationId xmlns:a16="http://schemas.microsoft.com/office/drawing/2014/main" id="{6F623AC1-D7EA-42AA-B654-157D7E0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Captures name, ID and role using reusable validation helpers.</a:t>
            </a:r>
          </a:p>
        </p:txBody>
      </p:sp>
      <p:sp>
        <p:nvSpPr>
          <p:cNvPr id="9" name="text-pmg2f75">
            <a:extLst xmlns:a="http://schemas.openxmlformats.org/drawingml/2006/main">
              <a:ext uri="{FF2B5EF4-FFF2-40B4-BE49-F238E27FC236}">
                <a16:creationId xmlns:a16="http://schemas.microsoft.com/office/drawing/2014/main" id="{71CBF789-03B0-42F6-BC22-E6B208BA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0" name="text-kbyztyw">
            <a:extLst xmlns:a="http://schemas.openxmlformats.org/drawingml/2006/main">
              <a:ext uri="{FF2B5EF4-FFF2-40B4-BE49-F238E27FC236}">
                <a16:creationId xmlns:a16="http://schemas.microsoft.com/office/drawing/2014/main" id="{2D880C03-A4A2-4847-B710-F0CD5481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verifyAccessCode()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4305300" y="33909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text-dv30z8c">
            <a:extLst xmlns:a="http://schemas.openxmlformats.org/drawingml/2006/main">
              <a:ext uri="{FF2B5EF4-FFF2-40B4-BE49-F238E27FC236}">
                <a16:creationId xmlns:a16="http://schemas.microsoft.com/office/drawing/2014/main" id="{B25B658A-CCDB-4160-998D-4594D38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Counts attempts, compares with BEE208LAB and records the successful time.</a:t>
            </a:r>
          </a:p>
        </p:txBody>
      </p:sp>
      <p:sp>
        <p:nvSpPr>
          <p:cNvPr id="13" name="text-a2slnd0">
            <a:extLst xmlns:a="http://schemas.openxmlformats.org/drawingml/2006/main">
              <a:ext uri="{FF2B5EF4-FFF2-40B4-BE49-F238E27FC236}">
                <a16:creationId xmlns:a16="http://schemas.microsoft.com/office/drawing/2014/main" id="{6CB44C47-6B5D-49F7-85CC-A180E870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4" name="text-v16r7x0">
            <a:extLst xmlns:a="http://schemas.openxmlformats.org/drawingml/2006/main">
              <a:ext uri="{FF2B5EF4-FFF2-40B4-BE49-F238E27FC236}">
                <a16:creationId xmlns:a16="http://schemas.microsoft.com/office/drawing/2014/main" id="{9D9CF38A-AEC0-481C-B705-7423A8ED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4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displayAccessStatus()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saveAccessLog()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8153400" y="33909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6" name="text-qsf25ag">
            <a:extLst xmlns:a="http://schemas.openxmlformats.org/drawingml/2006/main">
              <a:ext uri="{FF2B5EF4-FFF2-40B4-BE49-F238E27FC236}">
                <a16:creationId xmlns:a16="http://schemas.microsoft.com/office/drawing/2014/main" id="{B17EB1C1-7912-4DBE-B49E-07CBF7D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Shows the decision and appends only authorised records.</a:t>
            </a:r>
          </a:p>
        </p:txBody>
      </p:sp>
      <p:sp>
        <p:nvSpPr>
          <p:cNvPr id="17" name="text-8fxvr3v">
            <a:extLst xmlns:a="http://schemas.openxmlformats.org/drawingml/2006/main">
              <a:ext uri="{FF2B5EF4-FFF2-40B4-BE49-F238E27FC236}">
                <a16:creationId xmlns:a16="http://schemas.microsoft.com/office/drawing/2014/main" id="{34DA024A-712B-4964-BC46-3822A09F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Private data: fullName • userID • userRole • accessGranted • attemptsUsed • accessTime</a:t>
            </a:r>
          </a:p>
        </p:txBody>
      </p:sp>
    </p:spTree>
    <p:extLst>
      <p:ext uri="{BB962C8B-B14F-4D97-AF65-F5344CB8AC3E}">
        <p14:creationId xmlns:p14="http://schemas.microsoft.com/office/powerpoint/2010/main" val="1598193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4C0FCF-B38D-4EA9-86A7-0617ECB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implementation demonstrates the required C++ concepts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61751F-F8AE-4A07-A605-EC650AF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60B81E-C413-4C39-82D5-BC5F899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text-d2bk0dz">
            <a:extLst xmlns:a="http://schemas.openxmlformats.org/drawingml/2006/main">
              <a:ext uri="{FF2B5EF4-FFF2-40B4-BE49-F238E27FC236}">
                <a16:creationId xmlns:a16="http://schemas.microsoft.com/office/drawing/2014/main" id="{C4CA51E0-0E55-4183-9ECE-A1F3DA5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85g19gr">
            <a:extLst xmlns:a="http://schemas.openxmlformats.org/drawingml/2006/main">
              <a:ext uri="{FF2B5EF4-FFF2-40B4-BE49-F238E27FC236}">
                <a16:creationId xmlns:a16="http://schemas.microsoft.com/office/drawing/2014/main" id="{50A894AD-5FE8-4742-BABC-FB3A1EE1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/ OUTPUT</a:t>
            </a:r>
          </a:p>
        </p:txBody>
      </p:sp>
      <p:sp>
        <p:nvSpPr>
          <p:cNvPr id="7" name="text-xhpd4da">
            <a:extLst xmlns:a="http://schemas.openxmlformats.org/drawingml/2006/main">
              <a:ext uri="{FF2B5EF4-FFF2-40B4-BE49-F238E27FC236}">
                <a16:creationId xmlns:a16="http://schemas.microsoft.com/office/drawing/2014/main" id="{DD4DF87B-7538-48A2-A960-714C6E4E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74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getline, cout, cerr</a:t>
            </a:r>
          </a:p>
        </p:txBody>
      </p:sp>
      <p:sp>
        <p:nvSpPr>
          <p:cNvPr id="8" name="text-l480ag6">
            <a:extLst xmlns:a="http://schemas.openxmlformats.org/drawingml/2006/main">
              <a:ext uri="{FF2B5EF4-FFF2-40B4-BE49-F238E27FC236}">
                <a16:creationId xmlns:a16="http://schemas.microsoft.com/office/drawing/2014/main" id="{9AEBBD4C-2352-45DB-8846-16240773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668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gn2qhwv">
            <a:extLst xmlns:a="http://schemas.openxmlformats.org/drawingml/2006/main">
              <a:ext uri="{FF2B5EF4-FFF2-40B4-BE49-F238E27FC236}">
                <a16:creationId xmlns:a16="http://schemas.microsoft.com/office/drawing/2014/main" id="{54EFBA7F-40D5-462B-A0FE-6E02C85C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TYPES</a:t>
            </a:r>
          </a:p>
        </p:txBody>
      </p:sp>
      <p:sp>
        <p:nvSpPr>
          <p:cNvPr id="10" name="text-82fiatj">
            <a:extLst xmlns:a="http://schemas.openxmlformats.org/drawingml/2006/main">
              <a:ext uri="{FF2B5EF4-FFF2-40B4-BE49-F238E27FC236}">
                <a16:creationId xmlns:a16="http://schemas.microsoft.com/office/drawing/2014/main" id="{BF9AE0D1-DB81-4750-B985-4E2388F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574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string, int, bool, time</a:t>
            </a:r>
          </a:p>
        </p:txBody>
      </p:sp>
      <p:sp>
        <p:nvSpPr>
          <p:cNvPr id="11" name="text-0qir0vf">
            <a:extLst xmlns:a="http://schemas.openxmlformats.org/drawingml/2006/main">
              <a:ext uri="{FF2B5EF4-FFF2-40B4-BE49-F238E27FC236}">
                <a16:creationId xmlns:a16="http://schemas.microsoft.com/office/drawing/2014/main" id="{839040DC-D3E2-4CB9-A856-FB8872C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3qcs0r0">
            <a:extLst xmlns:a="http://schemas.openxmlformats.org/drawingml/2006/main">
              <a:ext uri="{FF2B5EF4-FFF2-40B4-BE49-F238E27FC236}">
                <a16:creationId xmlns:a16="http://schemas.microsoft.com/office/drawing/2014/main" id="{58D3197D-FC62-4109-82FC-BD561202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13" name="text-8qa7f8q">
            <a:extLst xmlns:a="http://schemas.openxmlformats.org/drawingml/2006/main">
              <a:ext uri="{FF2B5EF4-FFF2-40B4-BE49-F238E27FC236}">
                <a16:creationId xmlns:a16="http://schemas.microsoft.com/office/drawing/2014/main" id="{81D197D7-462C-431B-A471-21585E3D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grant, deny, visitor rule</a:t>
            </a:r>
          </a:p>
        </p:txBody>
      </p:sp>
      <p:sp>
        <p:nvSpPr>
          <p:cNvPr id="14" name="text-92ung28">
            <a:extLst xmlns:a="http://schemas.openxmlformats.org/drawingml/2006/main">
              <a:ext uri="{FF2B5EF4-FFF2-40B4-BE49-F238E27FC236}">
                <a16:creationId xmlns:a16="http://schemas.microsoft.com/office/drawing/2014/main" id="{337A8BD4-F349-4C97-B586-21833CDB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668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text-cx5djud">
            <a:extLst xmlns:a="http://schemas.openxmlformats.org/drawingml/2006/main">
              <a:ext uri="{FF2B5EF4-FFF2-40B4-BE49-F238E27FC236}">
                <a16:creationId xmlns:a16="http://schemas.microsoft.com/office/drawing/2014/main" id="{9AEE98ED-CBE1-4006-BCA9-D19964A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LOOPS</a:t>
            </a:r>
          </a:p>
        </p:txBody>
      </p:sp>
      <p:sp>
        <p:nvSpPr>
          <p:cNvPr id="16" name="text-mef29nc">
            <a:extLst xmlns:a="http://schemas.openxmlformats.org/drawingml/2006/main">
              <a:ext uri="{FF2B5EF4-FFF2-40B4-BE49-F238E27FC236}">
                <a16:creationId xmlns:a16="http://schemas.microsoft.com/office/drawing/2014/main" id="{3536F9A0-F059-4778-9801-42F6487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validation and 3 attempts</a:t>
            </a:r>
          </a:p>
        </p:txBody>
      </p:sp>
      <p:sp>
        <p:nvSpPr>
          <p:cNvPr id="17" name="text-nngwpa4">
            <a:extLst xmlns:a="http://schemas.openxmlformats.org/drawingml/2006/main">
              <a:ext uri="{FF2B5EF4-FFF2-40B4-BE49-F238E27FC236}">
                <a16:creationId xmlns:a16="http://schemas.microsoft.com/office/drawing/2014/main" id="{BAF6D610-D27D-4D9E-9C34-4148C4CC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text-nvgdtav">
            <a:extLst xmlns:a="http://schemas.openxmlformats.org/drawingml/2006/main">
              <a:ext uri="{FF2B5EF4-FFF2-40B4-BE49-F238E27FC236}">
                <a16:creationId xmlns:a16="http://schemas.microsoft.com/office/drawing/2014/main" id="{FA771D38-9FCD-4D9A-B71A-97716D1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FUNCTIONS</a:t>
            </a:r>
          </a:p>
        </p:txBody>
      </p:sp>
      <p:sp>
        <p:nvSpPr>
          <p:cNvPr id="19" name="text-8f3iw4d">
            <a:extLst xmlns:a="http://schemas.openxmlformats.org/drawingml/2006/main">
              <a:ext uri="{FF2B5EF4-FFF2-40B4-BE49-F238E27FC236}">
                <a16:creationId xmlns:a16="http://schemas.microsoft.com/office/drawing/2014/main" id="{DA40198E-A94E-40CD-AE4A-CE0DBD3D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focused reusable operations</a:t>
            </a:r>
          </a:p>
        </p:txBody>
      </p:sp>
      <p:sp>
        <p:nvSpPr>
          <p:cNvPr id="20" name="text-k8pdlbb">
            <a:extLst xmlns:a="http://schemas.openxmlformats.org/drawingml/2006/main">
              <a:ext uri="{FF2B5EF4-FFF2-40B4-BE49-F238E27FC236}">
                <a16:creationId xmlns:a16="http://schemas.microsoft.com/office/drawing/2014/main" id="{64A5A33F-768F-4FAF-A025-47DB4331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text-838g7sw">
            <a:extLst xmlns:a="http://schemas.openxmlformats.org/drawingml/2006/main">
              <a:ext uri="{FF2B5EF4-FFF2-40B4-BE49-F238E27FC236}">
                <a16:creationId xmlns:a16="http://schemas.microsoft.com/office/drawing/2014/main" id="{F34A1E76-B98D-4EF6-984D-28B83F16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386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 / OBJECT</a:t>
            </a:r>
          </a:p>
        </p:txBody>
      </p:sp>
      <p:sp>
        <p:nvSpPr>
          <p:cNvPr id="22" name="text-mhmrp13">
            <a:extLst xmlns:a="http://schemas.openxmlformats.org/drawingml/2006/main">
              <a:ext uri="{FF2B5EF4-FFF2-40B4-BE49-F238E27FC236}">
                <a16:creationId xmlns:a16="http://schemas.microsoft.com/office/drawing/2014/main" id="{5A229F3A-9239-4A08-9113-DF6F656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529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AccessUser per request</a:t>
            </a:r>
          </a:p>
        </p:txBody>
      </p:sp>
      <p:sp>
        <p:nvSpPr>
          <p:cNvPr id="23" name="text-xmbo80n">
            <a:extLst xmlns:a="http://schemas.openxmlformats.org/drawingml/2006/main">
              <a:ext uri="{FF2B5EF4-FFF2-40B4-BE49-F238E27FC236}">
                <a16:creationId xmlns:a16="http://schemas.microsoft.com/office/drawing/2014/main" id="{214A6A1F-CEAF-433C-9D43-F1A61EF4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text-70a5f2i">
            <a:extLst xmlns:a="http://schemas.openxmlformats.org/drawingml/2006/main">
              <a:ext uri="{FF2B5EF4-FFF2-40B4-BE49-F238E27FC236}">
                <a16:creationId xmlns:a16="http://schemas.microsoft.com/office/drawing/2014/main" id="{41705B87-5338-4AC2-A8D7-F21BDD1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25" name="text-4ej5a55">
            <a:extLst xmlns:a="http://schemas.openxmlformats.org/drawingml/2006/main">
              <a:ext uri="{FF2B5EF4-FFF2-40B4-BE49-F238E27FC236}">
                <a16:creationId xmlns:a16="http://schemas.microsoft.com/office/drawing/2014/main" id="{9F2C94DF-962B-487E-9686-DA51ED6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29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four supported roles</a:t>
            </a:r>
          </a:p>
        </p:txBody>
      </p:sp>
      <p:sp>
        <p:nvSpPr>
          <p:cNvPr id="26" name="text-0vtka39">
            <a:extLst xmlns:a="http://schemas.openxmlformats.org/drawingml/2006/main">
              <a:ext uri="{FF2B5EF4-FFF2-40B4-BE49-F238E27FC236}">
                <a16:creationId xmlns:a16="http://schemas.microsoft.com/office/drawing/2014/main" id="{42EE5376-84A6-4637-B432-442088F6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623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7" name="text-0y3u2ef">
            <a:extLst xmlns:a="http://schemas.openxmlformats.org/drawingml/2006/main">
              <a:ext uri="{FF2B5EF4-FFF2-40B4-BE49-F238E27FC236}">
                <a16:creationId xmlns:a16="http://schemas.microsoft.com/office/drawing/2014/main" id="{99FB91B7-43AF-4799-AC6F-B3F4683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FILE HANDLING</a:t>
            </a:r>
          </a:p>
        </p:txBody>
      </p:sp>
      <p:sp>
        <p:nvSpPr>
          <p:cNvPr id="28" name="text-94u84gy">
            <a:extLst xmlns:a="http://schemas.openxmlformats.org/drawingml/2006/main">
              <a:ext uri="{FF2B5EF4-FFF2-40B4-BE49-F238E27FC236}">
                <a16:creationId xmlns:a16="http://schemas.microsoft.com/office/drawing/2014/main" id="{C66A3021-F879-4551-A841-B0FA2C1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5297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append to access_log.txt</a:t>
            </a:r>
          </a:p>
        </p:txBody>
      </p:sp>
    </p:spTree>
    <p:extLst>
      <p:ext uri="{BB962C8B-B14F-4D97-AF65-F5344CB8AC3E}">
        <p14:creationId xmlns:p14="http://schemas.microsoft.com/office/powerpoint/2010/main" val="1656790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CDEC2A-E4D9-4DC3-B467-99BFE9B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repository contains the full submission evidence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529BEA-2B03-4E2A-9DD6-F6DB481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98F4768-5C37-4DC6-A512-CBA6E5D5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repository-tree">
            <a:extLst xmlns:a="http://schemas.openxmlformats.org/drawingml/2006/main">
              <a:ext uri="{FF2B5EF4-FFF2-40B4-BE49-F238E27FC236}">
                <a16:creationId xmlns:a16="http://schemas.microsoft.com/office/drawing/2014/main" id="{920F2096-90B7-4943-9524-60590AEE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3340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euixdv7">
            <a:extLst xmlns:a="http://schemas.openxmlformats.org/drawingml/2006/main">
              <a:ext uri="{FF2B5EF4-FFF2-40B4-BE49-F238E27FC236}">
                <a16:creationId xmlns:a16="http://schemas.microsoft.com/office/drawing/2014/main" id="{D1B0758B-52F1-42B9-8D9E-A3B2EFE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667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Repository/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main.cpp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README.md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algorithm.md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pseudocode.md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flowchart.png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report.md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test-data.md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access_log.txt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├── group-contribution.md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└── screenshots/</a:t>
            </a:r>
          </a:p>
        </p:txBody>
      </p:sp>
      <p:sp>
        <p:nvSpPr>
          <p:cNvPr id="7" name="text-nfm1uxt">
            <a:extLst xmlns:a="http://schemas.openxmlformats.org/drawingml/2006/main">
              <a:ext uri="{FF2B5EF4-FFF2-40B4-BE49-F238E27FC236}">
                <a16:creationId xmlns:a16="http://schemas.microsoft.com/office/drawing/2014/main" id="{3E1DCDF2-75B2-4849-8420-6641962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LIVE REPOSITORY</a:t>
            </a:r>
          </a:p>
        </p:txBody>
      </p:sp>
      <p:sp>
        <p:nvSpPr>
          <p:cNvPr id="8" name="text-zs6leui">
            <a:extLst xmlns:a="http://schemas.openxmlformats.org/drawingml/2006/main">
              <a:ext uri="{FF2B5EF4-FFF2-40B4-BE49-F238E27FC236}">
                <a16:creationId xmlns:a16="http://schemas.microsoft.com/office/drawing/2014/main" id="{A9413768-244C-4BAA-8E0C-28629423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github.com/josephasamoah/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BEE208-Laboratory-Access-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Control-System</a:t>
            </a:r>
          </a:p>
        </p:txBody>
      </p:sp>
      <p:sp>
        <p:nvSpPr>
          <p:cNvPr id="9" name="text-t9yk3yr">
            <a:extLst xmlns:a="http://schemas.openxmlformats.org/drawingml/2006/main">
              <a:ext uri="{FF2B5EF4-FFF2-40B4-BE49-F238E27FC236}">
                <a16:creationId xmlns:a16="http://schemas.microsoft.com/office/drawing/2014/main" id="{A8DB858C-0471-4F23-9CCE-60C08246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GitHub matters</a:t>
            </a:r>
          </a:p>
        </p:txBody>
      </p:sp>
      <p:sp>
        <p:nvSpPr>
          <p:cNvPr id="10" name="text-7vj19c7">
            <a:extLst xmlns:a="http://schemas.openxmlformats.org/drawingml/2006/main">
              <a:ext uri="{FF2B5EF4-FFF2-40B4-BE49-F238E27FC236}">
                <a16:creationId xmlns:a16="http://schemas.microsoft.com/office/drawing/2014/main" id="{95F933C1-CCB1-42E9-BCEF-F3C3C4C7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• One source of truth</a:t>
            </a:r>
          </a:p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• Complete submission structure</a:t>
            </a:r>
          </a:p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• Visible collaboration</a:t>
            </a:r>
          </a:p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• Version history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919650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8FDC9D-1022-41F0-9F89-54609316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Testing confirms both the happy path and failure paths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815BDA-5146-46D5-9D9E-DA25777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9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119993-BBBC-43A0-9461-EF1110A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graphicFrame>
        <p:nvGraphicFramePr>
          <p:cNvPr id="11" name="test-results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1428750"/>
              </a:tblGrid>
              <a:tr h="530679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Expected behaviour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Valid student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Grant on attempt 1 and save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Third-attempt success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Grant on attempt 3 and save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Three wrong codes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Deny and do not save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Visitor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Grant with supervision flag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Invalid 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 and re-prompt safely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Multiple users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Process both in one session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text-puzaen2">
            <a:extLst xmlns:a="http://schemas.openxmlformats.org/drawingml/2006/main">
              <a:ext uri="{FF2B5EF4-FFF2-40B4-BE49-F238E27FC236}">
                <a16:creationId xmlns:a16="http://schemas.microsoft.com/office/drawing/2014/main" id="{00F7F88F-4A92-402F-A855-E8E9EE14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F22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F222E"/>
                </a:solidFill>
                <a:latin typeface="Arial"/>
                <a:ea typeface="Arial"/>
                <a:cs typeface="Arial"/>
              </a:rPr>
              <a:t>Denied users never appear in the successful-access log.</a:t>
            </a:r>
          </a:p>
        </p:txBody>
      </p:sp>
    </p:spTree>
    <p:extLst>
      <p:ext uri="{BB962C8B-B14F-4D97-AF65-F5344CB8AC3E}">
        <p14:creationId xmlns:p14="http://schemas.microsoft.com/office/powerpoint/2010/main" val="762481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AEB72A-977C-4631-9A65-E2345501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challenges improved reliability and shaped future work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CF3DD5-1A7C-473D-91E6-DAC702FD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57200" y="1066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7F0BF0F-BFCE-4DDF-9D4A-F455B03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BEE 208 • GROUP 1.11</a:t>
            </a:r>
          </a:p>
        </p:txBody>
      </p:sp>
      <p:sp>
        <p:nvSpPr>
          <p:cNvPr id="5" name="text-cdsz88t">
            <a:extLst xmlns:a="http://schemas.openxmlformats.org/drawingml/2006/main">
              <a:ext uri="{FF2B5EF4-FFF2-40B4-BE49-F238E27FC236}">
                <a16:creationId xmlns:a16="http://schemas.microsoft.com/office/drawing/2014/main" id="{F44DE262-93C2-46B3-B3B8-721A71E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CHALLENGES &amp; LESSONS</a:t>
            </a:r>
          </a:p>
        </p:txBody>
      </p:sp>
      <p:sp>
        <p:nvSpPr>
          <p:cNvPr id="6" name="text-t8ec8gk">
            <a:extLst xmlns:a="http://schemas.openxmlformats.org/drawingml/2006/main">
              <a:ext uri="{FF2B5EF4-FFF2-40B4-BE49-F238E27FC236}">
                <a16:creationId xmlns:a16="http://schemas.microsoft.com/office/drawing/2014/main" id="{42899B77-E982-42A4-B580-1013408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input handling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whole lines, then parse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Whitespace validation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Trim before accepting names and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Visitor policy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 supervision explicit in reports and logs.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6000750" y="1476375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-3z9wjdq">
            <a:extLst xmlns:a="http://schemas.openxmlformats.org/drawingml/2006/main">
              <a:ext uri="{FF2B5EF4-FFF2-40B4-BE49-F238E27FC236}">
                <a16:creationId xmlns:a16="http://schemas.microsoft.com/office/drawing/2014/main" id="{74C9E5D6-BF71-4A77-B402-F0DA3FF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FUTURE IMPROVEMENTS</a:t>
            </a:r>
          </a:p>
        </p:txBody>
      </p:sp>
      <p:sp>
        <p:nvSpPr>
          <p:cNvPr id="9" name="text-e9hr4ov">
            <a:extLst xmlns:a="http://schemas.openxmlformats.org/drawingml/2006/main">
              <a:ext uri="{FF2B5EF4-FFF2-40B4-BE49-F238E27FC236}">
                <a16:creationId xmlns:a16="http://schemas.microsoft.com/office/drawing/2014/main" id="{2B5E68C2-5C49-461A-9D3D-8DBDBF5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Hide code entry while typing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Store a secure hash instead of plain text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Add role-specific permissions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denied attempts in a security log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Replace the text file with a database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Integrate ID cards or biometrics</a:t>
            </a:r>
          </a:p>
        </p:txBody>
      </p:sp>
      <p:sp>
        <p:nvSpPr>
          <p:cNvPr id="10" name="text-9pwc3ps">
            <a:extLst xmlns:a="http://schemas.openxmlformats.org/drawingml/2006/main">
              <a:ext uri="{FF2B5EF4-FFF2-40B4-BE49-F238E27FC236}">
                <a16:creationId xmlns:a16="http://schemas.microsoft.com/office/drawing/2014/main" id="{5ADAD8E9-65D4-4AEC-8726-EFAD971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Simple enough to defend today—structured enough to extend tomorrow.</a:t>
            </a:r>
          </a:p>
        </p:txBody>
      </p:sp>
    </p:spTree>
    <p:extLst>
      <p:ext uri="{BB962C8B-B14F-4D97-AF65-F5344CB8AC3E}">
        <p14:creationId xmlns:p14="http://schemas.microsoft.com/office/powerpoint/2010/main" val="45277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o353y6o">
            <a:extLst xmlns:a="http://schemas.openxmlformats.org/drawingml/2006/main">
              <a:ext uri="{FF2B5EF4-FFF2-40B4-BE49-F238E27FC236}">
                <a16:creationId xmlns:a16="http://schemas.microsoft.com/office/drawing/2014/main" id="{742428AC-9DE5-4B06-AB88-95253E68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text-63jn04w">
            <a:extLst xmlns:a="http://schemas.openxmlformats.org/drawingml/2006/main">
              <a:ext uri="{FF2B5EF4-FFF2-40B4-BE49-F238E27FC236}">
                <a16:creationId xmlns:a16="http://schemas.microsoft.com/office/drawing/2014/main" id="{235102D2-B67B-44E2-A1D5-E48093CC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system turns access decisions into accountable records.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57200" y="40957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text-zcutv7c">
            <a:extLst xmlns:a="http://schemas.openxmlformats.org/drawingml/2006/main">
              <a:ext uri="{FF2B5EF4-FFF2-40B4-BE49-F238E27FC236}">
                <a16:creationId xmlns:a16="http://schemas.microsoft.com/office/drawing/2014/main" id="{6EAB8953-D333-4E51-B4AD-361B7BF0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 IDENTITY</a:t>
            </a:r>
          </a:p>
        </p:txBody>
      </p:sp>
      <p:sp>
        <p:nvSpPr>
          <p:cNvPr id="5" name="text-en7k6jf">
            <a:extLst xmlns:a="http://schemas.openxmlformats.org/drawingml/2006/main">
              <a:ext uri="{FF2B5EF4-FFF2-40B4-BE49-F238E27FC236}">
                <a16:creationId xmlns:a16="http://schemas.microsoft.com/office/drawing/2014/main" id="{ADC0C175-4F33-4429-AD5E-520A0CE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 ATTEMPTS</a:t>
            </a:r>
          </a:p>
        </p:txBody>
      </p:sp>
      <p:sp>
        <p:nvSpPr>
          <p:cNvPr id="6" name="text-7rbe7og">
            <a:extLst xmlns:a="http://schemas.openxmlformats.org/drawingml/2006/main">
              <a:ext uri="{FF2B5EF4-FFF2-40B4-BE49-F238E27FC236}">
                <a16:creationId xmlns:a16="http://schemas.microsoft.com/office/drawing/2014/main" id="{0FBE85E2-D0C7-4B49-A226-573AC56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PRESERVE EVIDENCE</a:t>
            </a:r>
          </a:p>
        </p:txBody>
      </p:sp>
      <p:sp>
        <p:nvSpPr>
          <p:cNvPr id="7" name="text-yjzubex">
            <a:extLst xmlns:a="http://schemas.openxmlformats.org/drawingml/2006/main">
              <a:ext uri="{FF2B5EF4-FFF2-40B4-BE49-F238E27FC236}">
                <a16:creationId xmlns:a16="http://schemas.microsoft.com/office/drawing/2014/main" id="{8E0CDBC2-7B12-420F-889C-7C1BC519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Questions &amp; demonstration</a:t>
            </a:r>
          </a:p>
        </p:txBody>
      </p:sp>
      <p:sp>
        <p:nvSpPr>
          <p:cNvPr id="8" name="text-740zmop">
            <a:extLst xmlns:a="http://schemas.openxmlformats.org/drawingml/2006/main">
              <a:ext uri="{FF2B5EF4-FFF2-40B4-BE49-F238E27FC236}">
                <a16:creationId xmlns:a16="http://schemas.microsoft.com/office/drawing/2014/main" id="{F648FA88-6899-4C60-BB84-2D627E5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0550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 1.11</a:t>
            </a:r>
          </a:p>
        </p:txBody>
      </p:sp>
    </p:spTree>
    <p:extLst>
      <p:ext uri="{BB962C8B-B14F-4D97-AF65-F5344CB8AC3E}">
        <p14:creationId xmlns:p14="http://schemas.microsoft.com/office/powerpoint/2010/main" val="2016458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2026-07-17T12:25:50.4390000Z</dcterms:created>
  <dcterms:modified xsi:type="dcterms:W3CDTF">2026-07-17T12:25:50.4390000Z</dcterms:modified>
</coreProperties>
</file>